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 1 Bold" charset="1" panose="020B0806030504020204"/>
      <p:regular r:id="rId15"/>
    </p:embeddedFont>
    <p:embeddedFont>
      <p:font typeface="Helvetica World" charset="1" panose="020B0500040000020004"/>
      <p:regular r:id="rId16"/>
    </p:embeddedFont>
    <p:embeddedFont>
      <p:font typeface="Open Sans 2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1011" y="1272864"/>
            <a:ext cx="8209327" cy="7985436"/>
          </a:xfrm>
          <a:custGeom>
            <a:avLst/>
            <a:gdLst/>
            <a:ahLst/>
            <a:cxnLst/>
            <a:rect r="r" b="b" t="t" l="l"/>
            <a:pathLst>
              <a:path h="7985436" w="8209327">
                <a:moveTo>
                  <a:pt x="0" y="0"/>
                </a:moveTo>
                <a:lnTo>
                  <a:pt x="8209327" y="0"/>
                </a:lnTo>
                <a:lnTo>
                  <a:pt x="8209327" y="7985436"/>
                </a:lnTo>
                <a:lnTo>
                  <a:pt x="0" y="798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79835" y="2516032"/>
            <a:ext cx="7353949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99"/>
              </a:lnSpc>
            </a:pPr>
            <a:r>
              <a:rPr lang="en-US" sz="9999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Сана, Рух</a:t>
            </a:r>
          </a:p>
          <a:p>
            <a:pPr algn="just">
              <a:lnSpc>
                <a:spcPts val="10999"/>
              </a:lnSpc>
            </a:pPr>
            <a:r>
              <a:rPr lang="en-US" sz="9999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және </a:t>
            </a:r>
          </a:p>
          <a:p>
            <a:pPr algn="just" marL="0" indent="0" lvl="0">
              <a:lnSpc>
                <a:spcPts val="10999"/>
              </a:lnSpc>
              <a:spcBef>
                <a:spcPct val="0"/>
              </a:spcBef>
            </a:pPr>
            <a:r>
              <a:rPr lang="en-US" b="true" sz="9999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Тіл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58257" y="1779442"/>
            <a:ext cx="7567411" cy="6728116"/>
          </a:xfrm>
          <a:custGeom>
            <a:avLst/>
            <a:gdLst/>
            <a:ahLst/>
            <a:cxnLst/>
            <a:rect r="r" b="b" t="t" l="l"/>
            <a:pathLst>
              <a:path h="6728116" w="7567411">
                <a:moveTo>
                  <a:pt x="0" y="0"/>
                </a:moveTo>
                <a:lnTo>
                  <a:pt x="7567411" y="0"/>
                </a:lnTo>
                <a:lnTo>
                  <a:pt x="7567411" y="6728116"/>
                </a:lnTo>
                <a:lnTo>
                  <a:pt x="0" y="6728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80856"/>
            <a:ext cx="7689630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Сана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68955"/>
            <a:ext cx="8663189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Сана – адамның дүниені бейнелеу, ойлау, сезіну, өзін және айналасын түсіну қабілеті. Ол тек адамға тән қасиет, өйткені сана әлеуметтік тәжірибе мен тіл арқылы қалыптасады.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40046"/>
            <a:ext cx="8663189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Философиялық тұрғыда: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Материализм сананы материяның қасиеті десе,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Идеализм сананы мәңгі рухтың көрінісі деп есептейді.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5492" y="1574193"/>
            <a:ext cx="5555140" cy="7138615"/>
          </a:xfrm>
          <a:custGeom>
            <a:avLst/>
            <a:gdLst/>
            <a:ahLst/>
            <a:cxnLst/>
            <a:rect r="r" b="b" t="t" l="l"/>
            <a:pathLst>
              <a:path h="7138615" w="5555140">
                <a:moveTo>
                  <a:pt x="0" y="0"/>
                </a:moveTo>
                <a:lnTo>
                  <a:pt x="5555140" y="0"/>
                </a:lnTo>
                <a:lnTo>
                  <a:pt x="5555140" y="7138614"/>
                </a:lnTo>
                <a:lnTo>
                  <a:pt x="0" y="713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19284" y="958248"/>
            <a:ext cx="8650198" cy="79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0"/>
              </a:lnSpc>
            </a:pPr>
            <a:r>
              <a:rPr lang="en-US" sz="4707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Санаға тән ерекшеліктер: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27435" y="1901190"/>
            <a:ext cx="8440016" cy="638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Бейнелеу қабілеті – адам сыртқы дүниені ойында бейнелейді.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Жоспарлау мен мақсат қою – адам болашақты алдын ала елестетіп, оған жету жолын қарастырады.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Құндылық бағдар – адам жақсы мен жаманды, дұрыс пен бұрысты ажыратады.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Рефлексия – өз ойы мен әрекетіне талдау жасай алу.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Әлеуметтік шарттылық – сана қоғамда ғана қалыптасады.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57507"/>
            <a:ext cx="9604273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Рух және қасиеттері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30511"/>
            <a:ext cx="8664749" cy="585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Рух – адамның ішкі әлемінің, жан дүниесінің, ар-ождан мен моральдық өлшемдердің жиынтығы. Ол адамның ойынан да, тілінен де жоғары тұрған құндылықтық күш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Философтар түсіндірмесі:</a:t>
            </a:r>
          </a:p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Гегель: рух – тарих пен мәдениеттің қозғаушы күші.</a:t>
            </a:r>
          </a:p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Шәкәрім: рух – адамның ар-ұяты мен имандылығы.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463750" y="1760820"/>
            <a:ext cx="7239198" cy="6765359"/>
          </a:xfrm>
          <a:custGeom>
            <a:avLst/>
            <a:gdLst/>
            <a:ahLst/>
            <a:cxnLst/>
            <a:rect r="r" b="b" t="t" l="l"/>
            <a:pathLst>
              <a:path h="6765359" w="7239198">
                <a:moveTo>
                  <a:pt x="0" y="0"/>
                </a:moveTo>
                <a:lnTo>
                  <a:pt x="7239198" y="0"/>
                </a:lnTo>
                <a:lnTo>
                  <a:pt x="7239198" y="6765360"/>
                </a:lnTo>
                <a:lnTo>
                  <a:pt x="0" y="6765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1376" y="2620548"/>
            <a:ext cx="7865153" cy="6077618"/>
          </a:xfrm>
          <a:custGeom>
            <a:avLst/>
            <a:gdLst/>
            <a:ahLst/>
            <a:cxnLst/>
            <a:rect r="r" b="b" t="t" l="l"/>
            <a:pathLst>
              <a:path h="6077618" w="7865153">
                <a:moveTo>
                  <a:pt x="0" y="0"/>
                </a:moveTo>
                <a:lnTo>
                  <a:pt x="7865153" y="0"/>
                </a:lnTo>
                <a:lnTo>
                  <a:pt x="7865153" y="6077618"/>
                </a:lnTo>
                <a:lnTo>
                  <a:pt x="0" y="607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2753677"/>
            <a:ext cx="7522510" cy="469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Рухтың</a:t>
            </a: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негізгі қырлары: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Моральдық өлшем – адалдық, әділдік, намыс, ізгілік.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Шығармашылық қуат – өнер, ғылым, мәдениет рухтың жемісі.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Ұжымдық рух – халықтың дәстүрі, мәдениеті, ұлттық бірлігі.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Діни-философиялық мәні – рухты мәңгілік, шексіз бастаулармен байланыстырады.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62184" y="1054215"/>
            <a:ext cx="9604273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Рух және қасиеттері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14400"/>
            <a:ext cx="9956680" cy="104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7"/>
              </a:lnSpc>
            </a:pPr>
            <a:r>
              <a:rPr lang="en-US" sz="6133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Тіл және қызметтері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5857" y="2993564"/>
            <a:ext cx="7386033" cy="469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Тіл – адамдардың қарым-қатынас жасауына, ойды жеткізуіне, білім мен тәжірибені сақтап, ұрпаққа беруіне мүмкіндік беретін таңбалық жүйе.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Ол тек коммуникация құралы емес, сонымен бірге мәдениеттің, сананың және рухтың айнасы.</a:t>
            </a:r>
          </a:p>
          <a:p>
            <a:pPr algn="l">
              <a:lnSpc>
                <a:spcPts val="4199"/>
              </a:lnSpc>
            </a:pPr>
          </a:p>
          <a:p>
            <a:pPr algn="l" marL="0" indent="0" lvl="0">
              <a:lnSpc>
                <a:spcPts val="41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788736" y="2114526"/>
            <a:ext cx="7470564" cy="6057948"/>
          </a:xfrm>
          <a:custGeom>
            <a:avLst/>
            <a:gdLst/>
            <a:ahLst/>
            <a:cxnLst/>
            <a:rect r="r" b="b" t="t" l="l"/>
            <a:pathLst>
              <a:path h="6057948" w="7470564">
                <a:moveTo>
                  <a:pt x="0" y="0"/>
                </a:moveTo>
                <a:lnTo>
                  <a:pt x="7470564" y="0"/>
                </a:lnTo>
                <a:lnTo>
                  <a:pt x="7470564" y="6057948"/>
                </a:lnTo>
                <a:lnTo>
                  <a:pt x="0" y="6057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00457" y="1162050"/>
            <a:ext cx="9144000" cy="156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3"/>
              </a:lnSpc>
              <a:spcBef>
                <a:spcPct val="0"/>
              </a:spcBef>
            </a:pPr>
            <a:r>
              <a:rPr lang="en-US" b="true" sz="6199">
                <a:solidFill>
                  <a:srgbClr val="1C214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Тіл</a:t>
            </a:r>
            <a:r>
              <a:rPr lang="en-US" b="true" sz="6199" u="none">
                <a:solidFill>
                  <a:srgbClr val="1C214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және қызметтері</a:t>
            </a:r>
          </a:p>
          <a:p>
            <a:pPr algn="l" marL="0" indent="0" lvl="0">
              <a:lnSpc>
                <a:spcPts val="601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847605" y="2159406"/>
            <a:ext cx="8115300" cy="742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Философиялық</a:t>
            </a: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рөлі: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Сана мен ойдың көрінісі. Адам ойды тіл арқылы сыртқа шығарады.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Мәдениетті жеткізуші. Тіл арқылы дәстүр, тарих, білім ұрпақтан ұрпаққа беріледі.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Әлеуметтік байланыс құралы. Қоғам адамдардың бір-бірімен түсінісуі арқылы өмір сүреді.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Философтар көзқарасы: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Әл-Фараби: «Тіл – ойды білдірудің құралы, ал ой – тілсіз өмір сүре алмайды».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В. фон Гумбольдт: «Тіл – халық рухының көрінісі».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М. Хайдеггер: «Тіл – болмыстың үйі».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713106" y="6074410"/>
            <a:ext cx="4659059" cy="2897088"/>
          </a:xfrm>
          <a:custGeom>
            <a:avLst/>
            <a:gdLst/>
            <a:ahLst/>
            <a:cxnLst/>
            <a:rect r="r" b="b" t="t" l="l"/>
            <a:pathLst>
              <a:path h="2897088" w="4659059">
                <a:moveTo>
                  <a:pt x="0" y="0"/>
                </a:moveTo>
                <a:lnTo>
                  <a:pt x="4659060" y="0"/>
                </a:lnTo>
                <a:lnTo>
                  <a:pt x="4659060" y="2897088"/>
                </a:lnTo>
                <a:lnTo>
                  <a:pt x="0" y="2897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535296" cy="4568522"/>
          </a:xfrm>
          <a:custGeom>
            <a:avLst/>
            <a:gdLst/>
            <a:ahLst/>
            <a:cxnLst/>
            <a:rect r="r" b="b" t="t" l="l"/>
            <a:pathLst>
              <a:path h="4568522" w="4535296">
                <a:moveTo>
                  <a:pt x="0" y="0"/>
                </a:moveTo>
                <a:lnTo>
                  <a:pt x="4535296" y="0"/>
                </a:lnTo>
                <a:lnTo>
                  <a:pt x="4535296" y="4568522"/>
                </a:lnTo>
                <a:lnTo>
                  <a:pt x="0" y="4568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06235" y="1019175"/>
            <a:ext cx="10203094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7000">
                <a:solidFill>
                  <a:srgbClr val="1C214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Тіл және</a:t>
            </a:r>
            <a:r>
              <a:rPr lang="en-US" b="true" sz="7000">
                <a:solidFill>
                  <a:srgbClr val="1C214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қызметтері</a:t>
            </a:r>
          </a:p>
          <a:p>
            <a:pPr algn="l" marL="0" indent="0" lvl="0">
              <a:lnSpc>
                <a:spcPts val="84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30817"/>
            <a:ext cx="9279579" cy="626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Тілдің</a:t>
            </a: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қызметтері: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Коммуникативтік қызмет – адамдар арасындағы қарым-қатынас құралы.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Танымдық қызмет – дүниені танып, ойды қалыптастыру.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Мәдени қызмет – халықтың тарихы мен дәстүрін сақтау.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Әлеуметтік қызмет – қоғамдағы тәртіп пен бірлікті нығайту.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Эстетикалық қызмет – әдебиет пен өнер арқылы рухани ләззат сыйлау.</a:t>
            </a:r>
          </a:p>
          <a:p>
            <a:pPr algn="l" marL="0" indent="0" lvl="0">
              <a:lnSpc>
                <a:spcPts val="41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787011" y="1028700"/>
            <a:ext cx="5386647" cy="8229600"/>
          </a:xfrm>
          <a:custGeom>
            <a:avLst/>
            <a:gdLst/>
            <a:ahLst/>
            <a:cxnLst/>
            <a:rect r="r" b="b" t="t" l="l"/>
            <a:pathLst>
              <a:path h="8229600" w="5386647">
                <a:moveTo>
                  <a:pt x="0" y="0"/>
                </a:moveTo>
                <a:lnTo>
                  <a:pt x="5386647" y="0"/>
                </a:lnTo>
                <a:lnTo>
                  <a:pt x="53866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43" y="346016"/>
            <a:ext cx="17400915" cy="9594967"/>
            <a:chOff x="0" y="0"/>
            <a:chExt cx="4582957" cy="2527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57" cy="2527070"/>
            </a:xfrm>
            <a:custGeom>
              <a:avLst/>
              <a:gdLst/>
              <a:ahLst/>
              <a:cxnLst/>
              <a:rect r="r" b="b" t="t" l="l"/>
              <a:pathLst>
                <a:path h="2527070" w="4582957">
                  <a:moveTo>
                    <a:pt x="22691" y="0"/>
                  </a:moveTo>
                  <a:lnTo>
                    <a:pt x="4560267" y="0"/>
                  </a:lnTo>
                  <a:cubicBezTo>
                    <a:pt x="4572798" y="0"/>
                    <a:pt x="4582957" y="10159"/>
                    <a:pt x="4582957" y="22691"/>
                  </a:cubicBezTo>
                  <a:lnTo>
                    <a:pt x="4582957" y="2504379"/>
                  </a:lnTo>
                  <a:cubicBezTo>
                    <a:pt x="4582957" y="2516911"/>
                    <a:pt x="4572798" y="2527070"/>
                    <a:pt x="4560267" y="2527070"/>
                  </a:cubicBezTo>
                  <a:lnTo>
                    <a:pt x="22691" y="2527070"/>
                  </a:lnTo>
                  <a:cubicBezTo>
                    <a:pt x="10159" y="2527070"/>
                    <a:pt x="0" y="2516911"/>
                    <a:pt x="0" y="250437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82957" cy="259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657653"/>
            <a:ext cx="7167163" cy="6971695"/>
          </a:xfrm>
          <a:custGeom>
            <a:avLst/>
            <a:gdLst/>
            <a:ahLst/>
            <a:cxnLst/>
            <a:rect r="r" b="b" t="t" l="l"/>
            <a:pathLst>
              <a:path h="6971695" w="7167163">
                <a:moveTo>
                  <a:pt x="0" y="0"/>
                </a:moveTo>
                <a:lnTo>
                  <a:pt x="7167163" y="0"/>
                </a:lnTo>
                <a:lnTo>
                  <a:pt x="7167163" y="6971694"/>
                </a:lnTo>
                <a:lnTo>
                  <a:pt x="0" y="6971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1040607"/>
            <a:ext cx="8551210" cy="191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0"/>
              </a:lnSpc>
            </a:pPr>
            <a:r>
              <a:rPr lang="en-US" sz="5536" b="true">
                <a:solidFill>
                  <a:srgbClr val="1C214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Сана, Рух және Тілдің байланысы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868930"/>
            <a:ext cx="7522510" cy="638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Сана – адамның ойлау қабілеті, дүниені бейнелеу формасы, өзін-өзі танудың негізі.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Рух – сананың терең мазмұны, ішкі адамгершілік пен ар-ожданды білдіреді.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Тіл – сана мен рухты сыртқа шығаратын, ой мен мәдениетті жеткізетін құрал.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Үшеуі өзара тығыз байланысты: тілсіз сана дамымайды, санасыз рух қалыптаспайды, ал рухсыз тіл мен сана мәнін жоғалтады.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DAGzQ0ySfBY</dc:identifier>
  <dcterms:modified xsi:type="dcterms:W3CDTF">2011-08-01T06:04:30Z</dcterms:modified>
  <cp:revision>1</cp:revision>
  <dc:title>Elements of Poetry Education Presentation in Beige Blue and Green Illustrative Style</dc:title>
</cp:coreProperties>
</file>